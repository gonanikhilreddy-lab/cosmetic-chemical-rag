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6B55"/>
                </a:solidFill>
                <a:latin typeface="Aptos"/>
              </a:rPr>
              <a:t>PROJECT BRIEF / CHEMICAL DISCLOSURE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86864"/>
                </a:solidFill>
                <a:latin typeface="Aptos"/>
              </a:rPr>
              <a:t>01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927"/>
                </a:solidFill>
                <a:latin typeface="Georgia"/>
              </a:rPr>
              <a:t>Cosmetic chemical disclosure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56231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86864"/>
                </a:solidFill>
                <a:latin typeface="Aptos"/>
              </a:rPr>
              <a:t>A local-first assistant for answering questions over California cosmetic ingredient disclosures.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50592"/>
            <a:ext cx="7360920" cy="1956816"/>
          </a:xfrm>
          <a:prstGeom prst="roundRect">
            <a:avLst>
              <a:gd name="adj" fmla="val 8000"/>
            </a:avLst>
          </a:prstGeom>
          <a:solidFill>
            <a:srgbClr val="172824"/>
          </a:solidFill>
          <a:ln w="10160">
            <a:solidFill>
              <a:srgbClr val="17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0662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CABB"/>
                </a:solidFill>
                <a:latin typeface="Apto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35808"/>
            <a:ext cx="672084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Analysts need to find which products report a chemical, narrow results by company, category, or date, and see the evidence behind each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459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927"/>
                </a:solidFill>
                <a:latin typeface="Georgia"/>
              </a:rPr>
              <a:t>What the assistant is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2871216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6B5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1664" y="2852928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927"/>
                </a:solidFill>
                <a:latin typeface="Aptos"/>
              </a:rPr>
              <a:t>Find the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1664" y="3072384"/>
            <a:ext cx="2788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864"/>
                </a:solidFill>
                <a:latin typeface="Aptos"/>
              </a:rPr>
              <a:t>Chemical, CAS, product, company, or 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43814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6B55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419856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927"/>
                </a:solidFill>
                <a:latin typeface="Aptos"/>
              </a:rPr>
              <a:t>Apply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1664" y="3639312"/>
            <a:ext cx="2788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864"/>
                </a:solidFill>
                <a:latin typeface="Aptos"/>
              </a:rPr>
              <a:t>Category and reporting/lifecycle 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4005072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75B3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3986784"/>
            <a:ext cx="2697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2927"/>
                </a:solidFill>
                <a:latin typeface="Aptos"/>
              </a:rPr>
              <a:t>Show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4206240"/>
            <a:ext cx="27889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864"/>
                </a:solidFill>
                <a:latin typeface="Aptos"/>
              </a:rPr>
              <a:t>Counts and source identifiers from DuckDB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5488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754880"/>
            <a:ext cx="54864" cy="1024128"/>
          </a:xfrm>
          <a:prstGeom prst="rect">
            <a:avLst/>
          </a:prstGeom>
          <a:solidFill>
            <a:srgbClr val="176B55"/>
          </a:solidFill>
          <a:ln w="10160">
            <a:solidFill>
              <a:srgbClr val="176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73752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927"/>
                </a:solidFill>
                <a:latin typeface="Georgia"/>
              </a:rPr>
              <a:t>114,635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321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864"/>
                </a:solidFill>
                <a:latin typeface="Aptos"/>
              </a:rPr>
              <a:t>disclosure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33472" y="475488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33472" y="4754880"/>
            <a:ext cx="54864" cy="1024128"/>
          </a:xfrm>
          <a:prstGeom prst="rect">
            <a:avLst/>
          </a:prstGeom>
          <a:solidFill>
            <a:srgbClr val="436C78"/>
          </a:solidFill>
          <a:ln w="10160">
            <a:solidFill>
              <a:srgbClr val="43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4873752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927"/>
                </a:solidFill>
                <a:latin typeface="Georgia"/>
              </a:rPr>
              <a:t>36,972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5321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864"/>
                </a:solidFill>
                <a:latin typeface="Aptos"/>
              </a:rPr>
              <a:t>distinct CDPHId products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0016" y="4754880"/>
            <a:ext cx="1874519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4754880"/>
            <a:ext cx="54864" cy="1024128"/>
          </a:xfrm>
          <a:prstGeom prst="rect">
            <a:avLst/>
          </a:prstGeom>
          <a:solidFill>
            <a:srgbClr val="C75B32"/>
          </a:solidFill>
          <a:ln w="10160">
            <a:solidFill>
              <a:srgbClr val="C75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82896" y="4873752"/>
            <a:ext cx="1536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927"/>
                </a:solidFill>
                <a:latin typeface="Georgia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2896" y="5321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864"/>
                </a:solidFill>
                <a:latin typeface="Aptos"/>
              </a:rPr>
              <a:t>source fields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31152" y="4754880"/>
            <a:ext cx="4681728" cy="1024128"/>
          </a:xfrm>
          <a:prstGeom prst="roundRect">
            <a:avLst>
              <a:gd name="adj" fmla="val 8000"/>
            </a:avLst>
          </a:prstGeom>
          <a:solidFill>
            <a:srgbClr val="DCEFE7"/>
          </a:solidFill>
          <a:ln w="10160">
            <a:solidFill>
              <a:srgbClr val="DC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7184" y="4919472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824"/>
                </a:solidFill>
                <a:latin typeface="Aptos"/>
              </a:rPr>
              <a:t>Boundary: disclosure records indicate reported ingredient presence. They do not establish dose, exposure, toxicity, or product safety.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" y="619963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00" b="0">
                <a:solidFill>
                  <a:srgbClr val="586864"/>
                </a:solidFill>
                <a:latin typeface="Aptos"/>
              </a:rPr>
              <a:t>SOURCE  interviewtestdataset.csv  |  DuckDB cosmetics table  |  POC: exact structured filters + chemical candidate retrieval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80467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76B55"/>
                </a:solidFill>
                <a:latin typeface="Aptos"/>
              </a:rPr>
              <a:t>SYSTEM ARCHITECTURE / IMPLEMENTED CODE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20040"/>
            <a:ext cx="64008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86864"/>
                </a:solidFill>
                <a:latin typeface="Aptos"/>
              </a:rPr>
              <a:t>02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969264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2927"/>
                </a:solidFill>
                <a:latin typeface="Georgia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43000"/>
            <a:ext cx="1097280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86864"/>
                </a:solidFill>
                <a:latin typeface="Aptos"/>
              </a:rPr>
              <a:t>One-turn execution: rule-based planning, conditional retrieval, parameterized DuckDB queries, then evidence-backed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99616"/>
            <a:ext cx="11045952" cy="283464"/>
          </a:xfrm>
          <a:prstGeom prst="roundRect">
            <a:avLst>
              <a:gd name="adj" fmla="val 8000"/>
            </a:avLst>
          </a:prstGeom>
          <a:solidFill>
            <a:srgbClr val="172824"/>
          </a:solidFill>
          <a:ln w="10160">
            <a:solidFill>
              <a:srgbClr val="17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45336"/>
            <a:ext cx="10652760" cy="17373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SHARED AgentState   question | query_plan | entities | candidates | counts | evidence |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01952"/>
            <a:ext cx="2587752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01952"/>
            <a:ext cx="2587752" cy="50292"/>
          </a:xfrm>
          <a:prstGeom prst="rect">
            <a:avLst/>
          </a:prstGeom>
          <a:solidFill>
            <a:srgbClr val="176B55"/>
          </a:solidFill>
          <a:ln w="10160">
            <a:solidFill>
              <a:srgbClr val="176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23134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B55"/>
                </a:solidFill>
                <a:latin typeface="Aptos"/>
              </a:rPr>
              <a:t>01  INPUT + ORCHESTRATE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67712"/>
            <a:ext cx="231343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864"/>
                </a:solidFill>
                <a:latin typeface="Aptos"/>
              </a:rPr>
              <a:t>app/streamlit_app.py | src/graph/workflow.py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32888"/>
            <a:ext cx="231343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ask() -&gt; StateGraph.invoke()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926080"/>
            <a:ext cx="231343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86864"/>
                </a:solidFill>
                <a:latin typeface="Aptos"/>
              </a:rPr>
              <a:t>Question + prior query_plan context; each node adds step metrics.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901952"/>
            <a:ext cx="2587752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901952"/>
            <a:ext cx="2587752" cy="50292"/>
          </a:xfrm>
          <a:prstGeom prst="rect">
            <a:avLst/>
          </a:prstGeom>
          <a:solidFill>
            <a:srgbClr val="436C78"/>
          </a:solidFill>
          <a:ln w="10160">
            <a:solidFill>
              <a:srgbClr val="436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029968"/>
            <a:ext cx="23134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36C78"/>
                </a:solidFill>
                <a:latin typeface="Aptos"/>
              </a:rPr>
              <a:t>02  PLAN + 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267712"/>
            <a:ext cx="231343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864"/>
                </a:solidFill>
                <a:latin typeface="Aptos"/>
              </a:rPr>
              <a:t>src/agents/planner.py | entity_extractor.py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532888"/>
            <a:ext cx="231343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planner_node() -&gt; entity_extraction_node()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926080"/>
            <a:ext cx="231343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86864"/>
                </a:solidFill>
                <a:latin typeface="Aptos"/>
              </a:rPr>
              <a:t>Regex intent/date slots; exact catalog matching, CAS and selected inheritance.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901952"/>
            <a:ext cx="2587752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1901952"/>
            <a:ext cx="2587752" cy="50292"/>
          </a:xfrm>
          <a:prstGeom prst="rect">
            <a:avLst/>
          </a:prstGeom>
          <a:solidFill>
            <a:srgbClr val="C75B32"/>
          </a:solidFill>
          <a:ln w="10160">
            <a:solidFill>
              <a:srgbClr val="C75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029968"/>
            <a:ext cx="23134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75B32"/>
                </a:solidFill>
                <a:latin typeface="Aptos"/>
              </a:rPr>
              <a:t>03  ROUTE + RETRIEVE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267712"/>
            <a:ext cx="231343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864"/>
                </a:solidFill>
                <a:latin typeface="Aptos"/>
              </a:rPr>
              <a:t>src/graph/nodes.py | src/agents/*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532888"/>
            <a:ext cx="231343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route_node() -&gt; retrieval node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926080"/>
            <a:ext cx="231343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86864"/>
                </a:solidFill>
                <a:latin typeface="Aptos"/>
              </a:rPr>
              <a:t>Structured filters by default; fuzzy chemical hints take semantic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1901952"/>
            <a:ext cx="2587752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70848" y="1901952"/>
            <a:ext cx="2587752" cy="50292"/>
          </a:xfrm>
          <a:prstGeom prst="rect">
            <a:avLst/>
          </a:prstGeom>
          <a:solidFill>
            <a:srgbClr val="176B55"/>
          </a:solidFill>
          <a:ln w="10160">
            <a:solidFill>
              <a:srgbClr val="176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7152" y="2029968"/>
            <a:ext cx="23134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B55"/>
                </a:solidFill>
                <a:latin typeface="Aptos"/>
              </a:rPr>
              <a:t>04  VERIFY +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2267712"/>
            <a:ext cx="2313432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86864"/>
                </a:solidFill>
                <a:latin typeface="Aptos"/>
              </a:rPr>
              <a:t>src/graph/nodes.py | src/agents/answer_synthesizer.py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2532888"/>
            <a:ext cx="2313432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EvidenceRecord -&gt; synthesize()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2926080"/>
            <a:ext cx="2313432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86864"/>
                </a:solidFill>
                <a:latin typeface="Aptos"/>
              </a:rPr>
              <a:t>Requires CDPHId + ChemicalId; deterministic rendering, Ollama for selected summaries.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154680" y="2642616"/>
            <a:ext cx="246888" cy="0"/>
          </a:xfrm>
          <a:prstGeom prst="line">
            <a:avLst/>
          </a:prstGeom>
          <a:ln w="21590">
            <a:solidFill>
              <a:srgbClr val="176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227832" y="2505456"/>
            <a:ext cx="16459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6B55"/>
                </a:solidFill>
                <a:latin typeface="Aptos"/>
              </a:rPr>
              <a:t>&gt;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89320" y="2642616"/>
            <a:ext cx="246888" cy="0"/>
          </a:xfrm>
          <a:prstGeom prst="line">
            <a:avLst/>
          </a:prstGeom>
          <a:ln w="21590">
            <a:solidFill>
              <a:srgbClr val="176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62472" y="2505456"/>
            <a:ext cx="16459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6B55"/>
                </a:solidFill>
                <a:latin typeface="Aptos"/>
              </a:rPr>
              <a:t>&gt;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23960" y="2642616"/>
            <a:ext cx="246888" cy="0"/>
          </a:xfrm>
          <a:prstGeom prst="line">
            <a:avLst/>
          </a:prstGeom>
          <a:ln w="21590">
            <a:solidFill>
              <a:srgbClr val="176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897112" y="2505456"/>
            <a:ext cx="164592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6B55"/>
                </a:solidFill>
                <a:latin typeface="Aptos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3621024"/>
            <a:ext cx="5376672" cy="1088136"/>
          </a:xfrm>
          <a:prstGeom prst="roundRect">
            <a:avLst>
              <a:gd name="adj" fmla="val 8000"/>
            </a:avLst>
          </a:prstGeom>
          <a:solidFill>
            <a:srgbClr val="DCEFE7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37673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76B55"/>
                </a:solidFill>
                <a:latin typeface="Aptos"/>
              </a:rPr>
              <a:t>STRUCTURED PATH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023360"/>
            <a:ext cx="2212848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StructuredQueryAgent.retrieve()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search_cosmetics() / count_cosmetics()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7248" y="3785615"/>
            <a:ext cx="2560320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864"/>
                </a:solidFill>
                <a:latin typeface="Aptos"/>
              </a:rPr>
              <a:t>Fixed SELECT on cosmetics; allow-listed columns, bound values, read-only DuckDB.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864"/>
                </a:solidFill>
                <a:latin typeface="Aptos"/>
              </a:rPr>
              <a:t>Output: counts, aggregate rows, evidence.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3621024"/>
            <a:ext cx="5376672" cy="1088136"/>
          </a:xfrm>
          <a:prstGeom prst="roundRect">
            <a:avLst>
              <a:gd name="adj" fmla="val 8000"/>
            </a:avLst>
          </a:prstGeom>
          <a:solidFill>
            <a:srgbClr val="F7EAE4"/>
          </a:solidFill>
          <a:ln w="10160">
            <a:solidFill>
              <a:srgbClr val="D7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3767328"/>
            <a:ext cx="18288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75B32"/>
                </a:solidFill>
                <a:latin typeface="Aptos"/>
              </a:rPr>
              <a:t>SEMANTIC CHEMICAL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4023360"/>
            <a:ext cx="2212848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SemanticRetrievalAgent.search()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B2927"/>
                </a:solidFill>
                <a:latin typeface="Aptos"/>
              </a:rPr>
              <a:t>Qdrant + BM25 -&gt; RRF -&gt; rerank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3785615"/>
            <a:ext cx="2560320" cy="6766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864"/>
                </a:solidFill>
                <a:latin typeface="Aptos"/>
              </a:rPr>
              <a:t>Top 10 dense + top 10 BM25; accept dense relevance &gt; 0.70.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864"/>
                </a:solidFill>
                <a:latin typeface="Aptos"/>
              </a:rPr>
              <a:t>Selected chemical is verified by exact DuckDB filters.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901184"/>
            <a:ext cx="11045952" cy="694944"/>
          </a:xfrm>
          <a:prstGeom prst="roundRect">
            <a:avLst>
              <a:gd name="adj" fmla="val 8000"/>
            </a:avLst>
          </a:prstGeom>
          <a:solidFill>
            <a:srgbClr val="172824"/>
          </a:solidFill>
          <a:ln w="10160">
            <a:solidFill>
              <a:srgbClr val="172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5020056"/>
            <a:ext cx="1627632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8CABB"/>
                </a:solidFill>
                <a:latin typeface="Aptos"/>
              </a:rPr>
              <a:t>SQL SHAPE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5257800"/>
            <a:ext cx="1645920" cy="1737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4DED8"/>
                </a:solidFill>
                <a:latin typeface="Aptos"/>
              </a:rPr>
              <a:t>Simplified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50592" y="5038344"/>
            <a:ext cx="882396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SELECT DISTINCT CDPHId, ChemicalId, ProductName  FROM cosmetics  WHERE ChemicalName = ?  LIMIT 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797296"/>
            <a:ext cx="11045952" cy="557784"/>
          </a:xfrm>
          <a:prstGeom prst="roundRect">
            <a:avLst>
              <a:gd name="adj" fmla="val 8000"/>
            </a:avLst>
          </a:prstGeom>
          <a:solidFill>
            <a:srgbClr val="F4E7C9"/>
          </a:solidFill>
          <a:ln w="10160">
            <a:solidFill>
              <a:srgbClr val="F4E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8" y="5879592"/>
            <a:ext cx="10661904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2927"/>
                </a:solidFill>
                <a:latin typeface="Aptos"/>
              </a:rPr>
              <a:t>INTERVIEW FRAMING   LangGraph-orchestrated structured RAG POC. Planner is deterministic; SQL is not LLM-generated. Hybrid search resolves chemical candidates; this is not a general multi-hop planner or autonomous multi-agent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